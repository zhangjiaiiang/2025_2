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415" r:id="rId3"/>
    <p:sldId id="416" r:id="rId4"/>
    <p:sldId id="417" r:id="rId5"/>
    <p:sldId id="418" r:id="rId6"/>
    <p:sldId id="419" r:id="rId7"/>
    <p:sldId id="420" r:id="rId8"/>
    <p:sldId id="421" r:id="rId9"/>
    <p:sldId id="422" r:id="rId10"/>
    <p:sldId id="423" r:id="rId11"/>
    <p:sldId id="424" r:id="rId12"/>
    <p:sldId id="425" r:id="rId13"/>
    <p:sldId id="426" r:id="rId14"/>
    <p:sldId id="413" r:id="rId15"/>
    <p:sldId id="329" r:id="rId16"/>
    <p:sldId id="414" r:id="rId17"/>
    <p:sldId id="405" r:id="rId18"/>
    <p:sldId id="373" r:id="rId19"/>
    <p:sldId id="408" r:id="rId20"/>
    <p:sldId id="412" r:id="rId21"/>
    <p:sldId id="411" r:id="rId22"/>
    <p:sldId id="409" r:id="rId23"/>
    <p:sldId id="40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66" autoAdjust="0"/>
  </p:normalViewPr>
  <p:slideViewPr>
    <p:cSldViewPr snapToGrid="0">
      <p:cViewPr varScale="1">
        <p:scale>
          <a:sx n="95" d="100"/>
          <a:sy n="95" d="100"/>
        </p:scale>
        <p:origin x="11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09D0D-9F44-41EE-AE76-C2C484CF468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6A420-5FFF-4FEB-A768-79BB1652B3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94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072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21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20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905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98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065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058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677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20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586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320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C++17</a:t>
            </a:r>
            <a:r>
              <a:rPr lang="zh-CN" altLang="en-US" dirty="0"/>
              <a:t>标准</a:t>
            </a:r>
            <a:r>
              <a:rPr lang="en-US" altLang="zh-CN" dirty="0"/>
              <a:t>8.1.5</a:t>
            </a:r>
            <a:r>
              <a:rPr lang="zh-CN" altLang="en-US" dirty="0"/>
              <a:t>节定义了</a:t>
            </a:r>
            <a:r>
              <a:rPr lang="en-US" altLang="zh-CN" dirty="0"/>
              <a:t>Lambda</a:t>
            </a:r>
            <a:r>
              <a:rPr lang="zh-CN" altLang="en-US" dirty="0"/>
              <a:t>表达式，其中：</a:t>
            </a:r>
            <a:endParaRPr lang="en-US" altLang="zh-CN" dirty="0"/>
          </a:p>
          <a:p>
            <a:r>
              <a:rPr lang="en-US" altLang="zh-CN" dirty="0"/>
              <a:t>A lambda-expression shall not appear in an unevaluated operand </a:t>
            </a:r>
            <a:r>
              <a:rPr lang="zh-CN" altLang="en-US" dirty="0"/>
              <a:t>：</a:t>
            </a:r>
            <a:r>
              <a:rPr lang="en-US" altLang="zh-CN" dirty="0"/>
              <a:t>Lambada</a:t>
            </a:r>
            <a:r>
              <a:rPr lang="zh-CN" altLang="en-US" dirty="0"/>
              <a:t>表达式不能作为一个没有求值的操作数存在。即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1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057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当捕获列表以值的方式传递后，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表达式不能修改这个变量的值，只能使用。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8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6A420-5FFF-4FEB-A768-79BB1652B36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787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0CF0C-C475-4597-B975-761023AE0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B7B5FE-657F-4D8B-84E3-E536CCD64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5FAACB-5D95-4341-8E03-190B0476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D607A-C6EE-4D13-8E7B-0EDF0431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48F028-0370-44F9-A9C1-3B00EA53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07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FC112-8DDA-424A-8687-9B08C0F2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0B34B4-F529-479F-8D3D-638208EC1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AF4AA9-D021-46EA-92FF-75A1EE98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398F7-9E36-4728-B2D9-613DBB61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505C4-5F65-4F3A-BC56-CDC583E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0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DAFFF-1FD0-49A4-ABC8-C6B3BCCF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E89BB2-69D8-4AEC-9DA6-59545E60D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721129-1CE0-4747-9A14-F9136DD5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FFE072-2FB1-43AE-920C-5C7CFCF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9E1053-7032-4F3B-953F-99BEA376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76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29E13-2A25-4E8A-8D6A-3D8F0087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77B380-0545-4A23-A627-821B53F64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A65105-301E-4376-9902-AA7FB720E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9762A9-08E1-40A9-8209-F190BB32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C84DA0-3903-4EED-941D-4CD4068B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455038-3152-49B8-B12B-6C0C256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12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3C9AB-7816-46C9-8626-C82D5599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B8DD6A-22B3-42BE-86F7-5571FCAF6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4259E3-A6F7-4163-B36C-A0CD31619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05018B-3435-4D69-9FE6-C24A90CA8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8F1995-AA67-4C7F-953C-F1D51CF79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ADC97C-91A9-41E5-BC8F-23F7B4CC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59A81E-6710-4AB7-8C28-B9F5FAB1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45CB70-63F3-44A8-AA4B-0F3D6898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2E9F9-1E38-4E49-80E4-243A184B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ECDB1F-C0A8-481F-BC96-1D0BA310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46FF67-8CFB-454F-B47C-BB280741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E252D3-E73D-48DD-9431-DE99E94C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0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654011-230D-4A0C-AF29-B14A77EF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98A4FE-5206-4BB1-AB85-473ED288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50D088-C531-48B5-AE41-2B221EC7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1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C78DB-51CF-4FA9-B53E-FE1F9320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9B8352-0694-4CBC-83D4-FAB432891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9AA069-C76B-484B-AE2F-2B81413B1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E3AAC2-59E6-47B2-A4C9-A7653A73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25DDE-C59F-48F4-B077-0BB817E3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D0200E-8EA2-45D8-959D-94A11256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27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B60032-65D6-4CF1-BE29-B7AAF2082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4ADBB6-84E9-4DFE-AF51-FD1D931C3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DDEF10-CA04-4BD5-9028-E99698393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871394-226A-4C6E-8662-5A59A2EC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80503B-4B4C-4709-BEA5-E0D3B3E50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56B1C9-2E73-40D7-84DE-8722119B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13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B3D22-F3CA-4388-B307-CD410D37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48CEA9-13AA-475A-A86D-2F07E97FD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77C104-755C-4E0D-9F81-A888604E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0B4F1-94C5-4B38-8BBC-AB306924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26C39-16EC-4296-BF5E-FEB96E71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72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80373B-42B1-4F77-9762-3C13FFB14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7513F6-E5B9-47AB-AE23-22C67255A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5392D-DCDE-4D68-B1E9-730B2BE2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E3CDE0-0D96-4F89-9406-34623574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79C6AB-9F40-41ED-A2EF-05E41758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8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62292C-D63E-43C6-BEE6-7859A615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D22FE6-45C3-4A8F-957E-C710D2A1B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D21465-63E9-43E4-AFA8-64101752F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32EFA-BE2A-40A7-A0E8-44F720E634F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B7F57-5C28-44F9-BD9D-A46592A8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604EA-7B0E-4EE1-90EB-A235A0EEC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13869-C08B-485D-8632-BA365BA2F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2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53150-BEC9-4ECB-B4DD-8BAF2D5658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6D3A65-6862-43F3-B0B7-10205FFD71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0254CA-192B-4969-915C-E83C3C3AB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8C9F472-CBA2-4177-8CA7-DD302FC90870}"/>
              </a:ext>
            </a:extLst>
          </p:cNvPr>
          <p:cNvSpPr/>
          <p:nvPr/>
        </p:nvSpPr>
        <p:spPr>
          <a:xfrm>
            <a:off x="3573710" y="1359673"/>
            <a:ext cx="8380602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0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C++</a:t>
            </a:r>
            <a:r>
              <a:rPr lang="zh-CN" altLang="en-US" sz="60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程序设计精要教程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F85761-B2E6-4E27-8353-63D7D448F057}"/>
              </a:ext>
            </a:extLst>
          </p:cNvPr>
          <p:cNvSpPr/>
          <p:nvPr/>
        </p:nvSpPr>
        <p:spPr>
          <a:xfrm>
            <a:off x="6600253" y="4703544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华中科技大学</a:t>
            </a:r>
          </a:p>
        </p:txBody>
      </p:sp>
    </p:spTree>
    <p:extLst>
      <p:ext uri="{BB962C8B-B14F-4D97-AF65-F5344CB8AC3E}">
        <p14:creationId xmlns:p14="http://schemas.microsoft.com/office/powerpoint/2010/main" val="1713993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45B5B1-E0D9-48D9-A8B5-77F96D442EE8}"/>
              </a:ext>
            </a:extLst>
          </p:cNvPr>
          <p:cNvSpPr txBox="1"/>
          <p:nvPr/>
        </p:nvSpPr>
        <p:spPr>
          <a:xfrm>
            <a:off x="414967" y="934805"/>
            <a:ext cx="11362065" cy="535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表达式本质上是一个匿名、自动内联的函数</a:t>
            </a:r>
          </a:p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与任何函数类似，一个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表达式具有返回类型、参数列表、函数体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{}</a:t>
            </a:r>
          </a:p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和普通函数不一样的是：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表达式有捕获列表，可以定义在一个函数内部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(C++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是不允许在一个函数里定义另外一个函数的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表达式具有如下形式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捕获列表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](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形参列表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mutable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异常说明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-&gt;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返回类型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函数体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其中：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捕获列表是必须有的（即使列表为空也必须有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[]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;  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函数体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{}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是必须有的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mutable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和异常说明是可选的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当不需要任何参数时，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形参列表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可以没有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当函数返回类型可以推断时，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-&gt;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返回类型 可以没有</a:t>
            </a:r>
          </a:p>
          <a:p>
            <a:pPr>
              <a:spcBef>
                <a:spcPts val="500"/>
              </a:spcBef>
              <a:defRPr/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注意：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形参列表指传递给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表达式参数（和函数形参列表一样），函数参数称为绑定变量，它在函数上下文有明确的定义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捕获列表指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表达式要使用的、定义在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表达式外面的变量，称为自由变量。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表达式可以赋值给一个变量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变量的类型用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239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45B5B1-E0D9-48D9-A8B5-77F96D442EE8}"/>
              </a:ext>
            </a:extLst>
          </p:cNvPr>
          <p:cNvSpPr txBox="1"/>
          <p:nvPr/>
        </p:nvSpPr>
        <p:spPr>
          <a:xfrm>
            <a:off x="414967" y="934805"/>
            <a:ext cx="11362065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C++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不允许在一个函数里定义另外一个函数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void f1(){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void f2(){}</a:t>
            </a:r>
          </a:p>
          <a:p>
            <a:pPr>
              <a:spcBef>
                <a:spcPts val="500"/>
              </a:spcBef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}</a:t>
            </a:r>
          </a:p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但是可以在一个函数里定义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而且这是最常见的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应用场景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08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5F91C09-B0CF-4755-A517-DAFA1E3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527" y="652867"/>
            <a:ext cx="11303251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定义了一个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表达式，捕获列表为空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不需要任何参数，返回类型省略（可以从函数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体推断出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返回类型为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auto f1 = [] {return 42;}; //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等价于  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auto f1 = []()-&gt;int {return 42;};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//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将一个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表达式赋值给变量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后，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就可以看成函数名，可以通过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进行调用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rtn_f1 = f1();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"rtn_f1 = " &lt;&lt; rtn_f1 &lt;&lt; endl;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这里定义了一个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表达式，捕获列表为空，形参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x(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默认值为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，返回类型为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auto f2 = [ ](int x=1)-&gt;int { return x; };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rtn_f2 = f2(10);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"rtn_f2 = " &lt;&lt; rtn_f2 &lt;&lt; endl;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auto f3 = [](int i) { return i &lt; 0?-</a:t>
            </a:r>
            <a:r>
              <a:rPr lang="en-US" altLang="zh-CN" b="1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i:i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;};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功能：返回整数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的绝对值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rtn_f3 = f3(-20);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"rtn_f3 = " &lt;&lt; rtn_f3 &lt;&lt; endl;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如果有兴趣，可以用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函数看看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f3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被自动推断出什么类型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如果用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gcc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"type of f1:" &lt;&lt; 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abi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::__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cxa_demangle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(f1).name(), nullptr, nullptr, nullptr);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如果在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VisualStudio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cout &lt;&lt; "type of f1:" &lt;&lt; 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(f1).name() &lt;&lt; endl;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36C31739-879E-5B70-B40E-FFDB9D0E916B}"/>
              </a:ext>
            </a:extLst>
          </p:cNvPr>
          <p:cNvSpPr/>
          <p:nvPr/>
        </p:nvSpPr>
        <p:spPr>
          <a:xfrm>
            <a:off x="7231995" y="3096771"/>
            <a:ext cx="4574478" cy="2048069"/>
          </a:xfrm>
          <a:prstGeom prst="wedgeRectCallout">
            <a:avLst>
              <a:gd name="adj1" fmla="val -55787"/>
              <a:gd name="adj2" fmla="val 4364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上面代码的输出为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rtn_f1 = 42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rtn_f2 = 10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rtn_f3 = 20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type of f1:test_lambda_demo_1()::{lambda()#1}</a:t>
            </a:r>
          </a:p>
          <a:p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注意最后一行</a:t>
            </a:r>
            <a:r>
              <a:rPr lang="en-US" altLang="zh-CN" sz="1600" dirty="0">
                <a:solidFill>
                  <a:schemeClr val="tx1"/>
                </a:solidFill>
              </a:rPr>
              <a:t>f1</a:t>
            </a:r>
            <a:r>
              <a:rPr lang="zh-CN" altLang="en-US" sz="1600" dirty="0">
                <a:solidFill>
                  <a:schemeClr val="tx1"/>
                </a:solidFill>
              </a:rPr>
              <a:t>的类型就明白为什么接受</a:t>
            </a:r>
            <a:r>
              <a:rPr lang="en-US" altLang="zh-CN" sz="1600" dirty="0">
                <a:solidFill>
                  <a:schemeClr val="tx1"/>
                </a:solidFill>
              </a:rPr>
              <a:t>lambda</a:t>
            </a:r>
          </a:p>
          <a:p>
            <a:r>
              <a:rPr lang="zh-CN" altLang="en-US" sz="1600" dirty="0">
                <a:solidFill>
                  <a:schemeClr val="tx1"/>
                </a:solidFill>
              </a:rPr>
              <a:t>表达式的变量类型必须是</a:t>
            </a:r>
            <a:r>
              <a:rPr lang="en-US" altLang="zh-CN" sz="1600" dirty="0">
                <a:solidFill>
                  <a:schemeClr val="tx1"/>
                </a:solidFill>
              </a:rPr>
              <a:t>auto(</a:t>
            </a:r>
            <a:r>
              <a:rPr lang="zh-CN" altLang="en-US" sz="1600" dirty="0">
                <a:solidFill>
                  <a:schemeClr val="tx1"/>
                </a:solidFill>
              </a:rPr>
              <a:t>自动推导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49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84BA4-267F-8265-4A8A-B2021756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527" y="652867"/>
            <a:ext cx="11501673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捕获变量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lambda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可以使用它所在函数的局部变量（包括它所在函数的形参），这个过程叫捕获。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捕获只限于局部非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static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lambda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可以直接使用它所在函数的局部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static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变量，以及在它所在函数之外声明的名字（例如全局的名字、所在文件的静态的名字），但这种情况不是捕获。</a:t>
            </a:r>
          </a:p>
          <a:p>
            <a:pPr>
              <a:lnSpc>
                <a:spcPct val="120000"/>
              </a:lnSpc>
            </a:pP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9376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84BA4-267F-8265-4A8A-B2021756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57" y="652867"/>
            <a:ext cx="11839074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void test_lambda_demo_2(){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test_lambda_demo_2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定义了局部变量 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x,y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x = 10, y = 10;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现在在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test_lambda_demo_2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里定义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问题：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表达式除了自己的形参外，是否可以使用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表达式所位于的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test_lambda_demo_2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函数的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局部变量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呢？可以！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表达式使用所在函数中的局部变量叫做捕获变量，可以在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[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]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里指明要 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捕获那些局部变量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//lambda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表达式要使用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所在函数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test_lambda_demo_2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的局部变量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，是值捕获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 f1 =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[x]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(int i) -&gt;int {return x * i;};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cout &lt;&lt; "f1() = " &lt;&lt; f1(2) &lt;&lt; endl;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20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++x;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test_lambda_demo_2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定义了局部变量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变了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cout &lt;&lt; "f1() = " &lt;&lt; f1(2) &lt;&lt; endl;  //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还是输出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，而不是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22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对话气泡: 矩形 2">
            <a:extLst>
              <a:ext uri="{FF2B5EF4-FFF2-40B4-BE49-F238E27FC236}">
                <a16:creationId xmlns:a16="http://schemas.microsoft.com/office/drawing/2014/main" id="{D167E5F3-5795-4B72-6E0D-1F11813522F1}"/>
              </a:ext>
            </a:extLst>
          </p:cNvPr>
          <p:cNvSpPr/>
          <p:nvPr/>
        </p:nvSpPr>
        <p:spPr>
          <a:xfrm>
            <a:off x="750771" y="4687503"/>
            <a:ext cx="10722543" cy="1849100"/>
          </a:xfrm>
          <a:prstGeom prst="wedgeRectCallout">
            <a:avLst>
              <a:gd name="adj1" fmla="val -51927"/>
              <a:gd name="adj2" fmla="val 3288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为什么会这样？</a:t>
            </a:r>
          </a:p>
          <a:p>
            <a:r>
              <a:rPr lang="zh-CN" altLang="en-US" sz="1600" dirty="0">
                <a:solidFill>
                  <a:schemeClr val="tx1"/>
                </a:solidFill>
              </a:rPr>
              <a:t>        </a:t>
            </a:r>
            <a:r>
              <a:rPr lang="en-US" altLang="zh-CN" sz="1600" dirty="0">
                <a:solidFill>
                  <a:schemeClr val="tx1"/>
                </a:solidFill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</a:rPr>
              <a:t>表达式捕获发生在</a:t>
            </a:r>
            <a:r>
              <a:rPr lang="en-US" altLang="zh-CN" sz="1600" dirty="0">
                <a:solidFill>
                  <a:schemeClr val="tx1"/>
                </a:solidFill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</a:rPr>
              <a:t>表达式被创建的时候（即定义</a:t>
            </a:r>
            <a:r>
              <a:rPr lang="en-US" altLang="zh-CN" sz="1600" dirty="0">
                <a:solidFill>
                  <a:schemeClr val="tx1"/>
                </a:solidFill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</a:rPr>
              <a:t>表达式的代码执行时），这个例子里是语句</a:t>
            </a:r>
          </a:p>
          <a:p>
            <a:r>
              <a:rPr lang="zh-CN" altLang="en-US" sz="1600" dirty="0">
                <a:solidFill>
                  <a:schemeClr val="tx1"/>
                </a:solidFill>
              </a:rPr>
              <a:t>            </a:t>
            </a:r>
            <a:r>
              <a:rPr lang="en-US" altLang="zh-CN" sz="1600" dirty="0">
                <a:solidFill>
                  <a:schemeClr val="tx1"/>
                </a:solidFill>
              </a:rPr>
              <a:t>auto f1 = [x] (int i) -&gt;int {return x * i;};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    </a:t>
            </a:r>
            <a:r>
              <a:rPr lang="zh-CN" altLang="en-US" sz="1600" dirty="0">
                <a:solidFill>
                  <a:schemeClr val="tx1"/>
                </a:solidFill>
              </a:rPr>
              <a:t>这个时刻捕获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zh-CN" altLang="en-US" sz="1600" dirty="0">
                <a:solidFill>
                  <a:schemeClr val="tx1"/>
                </a:solidFill>
              </a:rPr>
              <a:t>的值是</a:t>
            </a:r>
            <a:r>
              <a:rPr lang="en-US" altLang="zh-CN" sz="1600" dirty="0">
                <a:solidFill>
                  <a:schemeClr val="tx1"/>
                </a:solidFill>
              </a:rPr>
              <a:t>10</a:t>
            </a:r>
            <a:r>
              <a:rPr lang="zh-CN" altLang="en-US" sz="1600" dirty="0">
                <a:solidFill>
                  <a:schemeClr val="tx1"/>
                </a:solidFill>
              </a:rPr>
              <a:t>，而且是值捕获，因此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zh-CN" altLang="en-US" sz="1600" dirty="0">
                <a:solidFill>
                  <a:schemeClr val="tx1"/>
                </a:solidFill>
              </a:rPr>
              <a:t>（值为</a:t>
            </a:r>
            <a:r>
              <a:rPr lang="en-US" altLang="zh-CN" sz="1600" dirty="0">
                <a:solidFill>
                  <a:schemeClr val="tx1"/>
                </a:solidFill>
              </a:rPr>
              <a:t>10</a:t>
            </a:r>
            <a:r>
              <a:rPr lang="zh-CN" altLang="en-US" sz="1600" dirty="0">
                <a:solidFill>
                  <a:schemeClr val="tx1"/>
                </a:solidFill>
              </a:rPr>
              <a:t>）被复制到</a:t>
            </a:r>
            <a:r>
              <a:rPr lang="en-US" altLang="zh-CN" sz="1600" dirty="0">
                <a:solidFill>
                  <a:schemeClr val="tx1"/>
                </a:solidFill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</a:rPr>
              <a:t>表达式的上下文里（更准确的说应该是闭包）。</a:t>
            </a:r>
          </a:p>
          <a:p>
            <a:r>
              <a:rPr lang="zh-CN" altLang="en-US" sz="1600" dirty="0">
                <a:solidFill>
                  <a:schemeClr val="tx1"/>
                </a:solidFill>
              </a:rPr>
              <a:t>        因此</a:t>
            </a:r>
            <a:r>
              <a:rPr lang="en-US" altLang="zh-CN" sz="1600" dirty="0">
                <a:solidFill>
                  <a:schemeClr val="tx1"/>
                </a:solidFill>
              </a:rPr>
              <a:t>++x</a:t>
            </a:r>
            <a:r>
              <a:rPr lang="zh-CN" altLang="en-US" sz="1600" dirty="0">
                <a:solidFill>
                  <a:schemeClr val="tx1"/>
                </a:solidFill>
              </a:rPr>
              <a:t>没有改变已经创建好的</a:t>
            </a:r>
            <a:r>
              <a:rPr lang="en-US" altLang="zh-CN" sz="1600" dirty="0">
                <a:solidFill>
                  <a:schemeClr val="tx1"/>
                </a:solidFill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</a:rPr>
              <a:t>表达式闭包里的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zh-CN" altLang="en-US" sz="1600" dirty="0">
                <a:solidFill>
                  <a:schemeClr val="tx1"/>
                </a:solidFill>
              </a:rPr>
              <a:t>，所以调用</a:t>
            </a:r>
            <a:r>
              <a:rPr lang="en-US" altLang="zh-CN" sz="1600" dirty="0">
                <a:solidFill>
                  <a:schemeClr val="tx1"/>
                </a:solidFill>
              </a:rPr>
              <a:t>f1(2)</a:t>
            </a:r>
            <a:r>
              <a:rPr lang="zh-CN" altLang="en-US" sz="1600" dirty="0">
                <a:solidFill>
                  <a:schemeClr val="tx1"/>
                </a:solidFill>
              </a:rPr>
              <a:t>时，函数体</a:t>
            </a:r>
            <a:r>
              <a:rPr lang="en-US" altLang="zh-CN" sz="1600" dirty="0">
                <a:solidFill>
                  <a:schemeClr val="tx1"/>
                </a:solidFill>
              </a:rPr>
              <a:t>{ return x * i; }</a:t>
            </a:r>
            <a:r>
              <a:rPr lang="zh-CN" altLang="en-US" sz="1600" dirty="0">
                <a:solidFill>
                  <a:schemeClr val="tx1"/>
                </a:solidFill>
              </a:rPr>
              <a:t>里的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zh-CN" altLang="en-US" sz="1600" dirty="0">
                <a:solidFill>
                  <a:schemeClr val="tx1"/>
                </a:solidFill>
              </a:rPr>
              <a:t>还是</a:t>
            </a:r>
            <a:r>
              <a:rPr lang="en-US" altLang="zh-CN" sz="1600" dirty="0">
                <a:solidFill>
                  <a:schemeClr val="tx1"/>
                </a:solidFill>
              </a:rPr>
              <a:t>10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    </a:t>
            </a:r>
            <a:r>
              <a:rPr lang="zh-CN" altLang="en-US" sz="1600" dirty="0">
                <a:solidFill>
                  <a:schemeClr val="tx1"/>
                </a:solidFill>
              </a:rPr>
              <a:t>顺便说一下，当</a:t>
            </a:r>
            <a:r>
              <a:rPr lang="en-US" altLang="zh-CN" sz="1600" dirty="0">
                <a:solidFill>
                  <a:schemeClr val="tx1"/>
                </a:solidFill>
              </a:rPr>
              <a:t>lambda</a:t>
            </a:r>
            <a:r>
              <a:rPr lang="zh-CN" altLang="en-US" sz="1600" dirty="0">
                <a:solidFill>
                  <a:schemeClr val="tx1"/>
                </a:solidFill>
              </a:rPr>
              <a:t>表达式被创建好以后，可以多次执行，例如</a:t>
            </a:r>
            <a:r>
              <a:rPr lang="en-US" altLang="zh-CN" sz="1600" dirty="0">
                <a:solidFill>
                  <a:schemeClr val="tx1"/>
                </a:solidFill>
              </a:rPr>
              <a:t>f1(2),f1(3), ...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25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84BA4-267F-8265-4A8A-B2021756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57" y="652867"/>
            <a:ext cx="11839074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void test_lambda_demo_2(){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int x = 10, y = 10;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/*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如果是引用捕获呢？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表达式捕获发生在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表达式被创建的时候（即定义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表达式的代码执行时），下面例子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 f2 =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[&amp;y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] (int i) -&gt;int {return y * i;};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这个捕获是引用捕获，即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的引用复制到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表达式的上下文里（更准确的说应该是闭包）。因此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++y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以后再调用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f2(2)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时，函数体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 return y * i; }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里的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变成了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11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*/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f2 = [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&amp;y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] (int i) -&gt;int {return y * i;};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cout &lt;&lt; "f2() = " &lt;&lt; f2(2) &lt;&lt; endl;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20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++y;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"f2() = " &lt;&lt; f2(2) &lt;&lt; endl;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22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/*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可以捕获多个局部变量，这时在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[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]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里面多个名字用逗号分割例如 *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f3 = [x, y] (int i)-&gt;int { return i * (x + y);};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同时值捕获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f4 = [&amp;x, &amp;y] (int i)-&gt;int { return i * (x + y);};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同时引用捕获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f5 = [x, &amp;y] (int i)-&gt;int { return i * (x + y);};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值捕获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，引用捕获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7549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84BA4-267F-8265-4A8A-B2021756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57" y="652867"/>
            <a:ext cx="11839074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/**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隐式捕获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除了在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[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]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显式列出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需要捕获的变量外，也可以让编译器根据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表达式函数体代码来推断要捕获哪些变量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但为了指示编译器如何推断捕获列表，应该在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[]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里写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，来告诉编译器是值捕获还是引用捕获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*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void test_lambda_demo_3(){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x = 10, y = 10, z = 10;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f1 = [=]()-&gt; int{ return x + y + z;};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隐式值捕获，根据代码可以推断出：值捕获了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 , y, z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三个变量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cout &lt;&lt; "f1() = " &lt;&lt; f1() &lt;&lt; endl;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30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f2 = [&amp;]()-&gt; int{ return x + y + z;};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隐式引用捕获，根据代码可以推断出：引用捕获了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 ,y ,z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三个变量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cout &lt;&lt; "f2() = " &lt;&lt; f2() &lt;&lt; endl;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30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++x;++y;++z;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"f1() = " &lt;&lt; f1() &lt;&lt; endl;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还是输出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30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"f2() = " &lt;&lt; f2() &lt;&lt; endl;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33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867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84BA4-267F-8265-4A8A-B2021756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57" y="652867"/>
            <a:ext cx="11839074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/**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隐式捕获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除了在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[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]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显式列出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需要捕获的变量外，也可以让编译器根据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表达式函数体代码来推断要捕获哪些变量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但为了指示编译器如何推断捕获列表，应该在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[]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里写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，来告诉编译器是值捕获还是引用捕获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*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void test_lambda_demo_3(){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x = 10, y = 10, z = 10;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/*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可以混合使用隐式捕获和显式捕获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当混合使用隐式捕获和显示捕获时，捕获列表的第一个元素必须是一个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或者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，指定隐式捕获方式；后面是显   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式捕获变量名列表，而且显式捕获的方式必须和隐式捕获不一样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即：如果隐式捕获是引用捕获，则显式捕获必须用值捕获；如果隐式捕获是值捕获，则显式捕获必须用引用捕获；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*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f3 = [=,&amp;z]()-&gt; int{ return x + y + z;};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隐式值捕获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 , y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，显式引用捕获变量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f4 = [&amp;,x]()-&gt; int{ return x + y + z;};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隐式引用捕获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 , z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，显式值捕获变量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7409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84BA4-267F-8265-4A8A-B2021756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57" y="652867"/>
            <a:ext cx="11839074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既然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表达式可以赋值给一个变量，那么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表达式可以作为函数的返回值</a:t>
            </a:r>
          </a:p>
          <a:p>
            <a:pPr>
              <a:lnSpc>
                <a:spcPct val="120000"/>
              </a:lnSpc>
            </a:pP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我们希望有这样一个函数：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natural_number_generator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自然数产生器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，每次调用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natural_number_generator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会自动产生下一个自然数，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我们还希望有一个函数能帮我们产生这样的自然数产生器，这个函数比如叫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natural_number_generator_factory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（自然数发生器的制造工厂）</a:t>
            </a:r>
          </a:p>
          <a:p>
            <a:pPr>
              <a:lnSpc>
                <a:spcPct val="120000"/>
              </a:lnSpc>
            </a:pP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即：我们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希望函数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natural_number_generator_factory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能返回另外一个函数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natural_number_generator(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自然数产生器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。我们可以也只能用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5185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84BA4-267F-8265-4A8A-B2021756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57" y="652867"/>
            <a:ext cx="11839074" cy="588373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natural_number_generator_factory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是一个自然数发生器的工厂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它要返回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表达式（自然数发生器）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因此函数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natural_number_generator_factory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的返回类型为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auto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natural_number_generator_factory(){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int i = 0;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定义一个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表达式，其功能为自然数发生器，产生下一个自然数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特别说明：如果需要在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表达式函数体内修改 通过值捕获方式捕获到的变量的值（如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++i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），则必须在（形参列表）后面加上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mutable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natural_number_generator = [i] ()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mutable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-&gt;int { return ++i;};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return natural_number_generator;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返回自然数发生器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830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84BA4-267F-8265-4A8A-B2021756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57" y="652866"/>
            <a:ext cx="11839074" cy="6205133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void test_lambda_demo_4(){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natural_number_generator_factory()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得到一个自然数产生器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generator1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generator1 = natural_number_generator_factory();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"generator1 generates ..." &lt;&lt; endl;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n1 = generator1();  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generator1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，得到下一个自然数，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n1 = 1;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"n1 = " &lt;&lt; n1 &lt;&lt; endl;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n2 = generator1();  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generator1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，得到下一个自然数，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n2 = 2;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"n2 = " &lt;&lt; n2 &lt;&lt; endl;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可以一直这样产生下一个自然数</a:t>
            </a:r>
          </a:p>
          <a:p>
            <a:pPr>
              <a:lnSpc>
                <a:spcPct val="120000"/>
              </a:lnSpc>
            </a:pP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natural_number_generator_factory()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得到另一个一个自然数产生器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generator2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generator2 = natural_number_generator_factory();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"generator2 generates ..." &lt;&lt; endl;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m1 = generator2();  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，得到下一个自然数，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m1 = ?;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"m1 = " &lt;&lt; m1 &lt;&lt; endl;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m2 = generator2();  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，得到下一个自然数，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m2 = ?;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cout &lt;&lt; "m2 = " &lt;&lt; m2 &lt;&lt; endl;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可以一直这样产生下一个自然数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对话气泡: 矩形 2">
            <a:extLst>
              <a:ext uri="{FF2B5EF4-FFF2-40B4-BE49-F238E27FC236}">
                <a16:creationId xmlns:a16="http://schemas.microsoft.com/office/drawing/2014/main" id="{769FE67E-FB5B-D86B-7B25-C5FB7BEAE8B8}"/>
              </a:ext>
            </a:extLst>
          </p:cNvPr>
          <p:cNvSpPr/>
          <p:nvPr/>
        </p:nvSpPr>
        <p:spPr>
          <a:xfrm>
            <a:off x="8541031" y="1707363"/>
            <a:ext cx="3471298" cy="2048069"/>
          </a:xfrm>
          <a:prstGeom prst="wedgeRectCallout">
            <a:avLst>
              <a:gd name="adj1" fmla="val -79910"/>
              <a:gd name="adj2" fmla="val 4928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上面代码输出结果为</a:t>
            </a:r>
          </a:p>
          <a:p>
            <a:r>
              <a:rPr lang="zh-CN" altLang="en-US" sz="1600" dirty="0">
                <a:solidFill>
                  <a:schemeClr val="tx1"/>
                </a:solidFill>
              </a:rPr>
              <a:t>        </a:t>
            </a:r>
            <a:r>
              <a:rPr lang="en-US" altLang="zh-CN" sz="1600" dirty="0">
                <a:solidFill>
                  <a:schemeClr val="tx1"/>
                </a:solidFill>
              </a:rPr>
              <a:t>generator1 generates ...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    n1 = 1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    n2 = 2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    generator2 generates ...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    m1 = 1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    m2 = 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17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27" y="94538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CC84BA4-267F-8265-4A8A-B2021756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57" y="652867"/>
            <a:ext cx="11839074" cy="5988566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为什么第二个自然数产生器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的输出也是从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开始而不是从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开始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因为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捕获的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捕获的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是不同的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，而且捕获时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的值都是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，前面讲过：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表达式捕获发生在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表达式被创建的时候（即定义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表达式的代码执行时）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 natural_number_generator = [i] () mutable  -&gt;int { return ++i;};</a:t>
            </a:r>
          </a:p>
          <a:p>
            <a:pPr>
              <a:lnSpc>
                <a:spcPct val="120000"/>
              </a:lnSpc>
            </a:pP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自由变量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叫闭包。闭包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(Closure)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并不是一个新鲜的概念，很多函数式语言中都使用了闭包。例如在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JavaScript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中，当你在内嵌函数中使用外部函数作用域内的变量时，就是使用了闭包。用一个常用的类比来解释闭包和类（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Class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）的关系：类是带函数的数据，闭包是带数据的函数。</a:t>
            </a:r>
          </a:p>
          <a:p>
            <a:pPr>
              <a:lnSpc>
                <a:spcPct val="120000"/>
              </a:lnSpc>
            </a:pP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闭包的本质：代码块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上下文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闭包中使用的自由变量有一个特性，就是它们不在父函数返回时释放，而是随着闭包生命周期的结束而结束。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generator1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就是二个不同的闭包，它们分别使用了相互独立的变量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自增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的时候，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generator2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并不受影响，反之亦然），只要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generator2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这两个变量没有被回收，他们各自的自由变量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就不会被释放。</a:t>
            </a:r>
          </a:p>
          <a:p>
            <a:pPr>
              <a:lnSpc>
                <a:spcPct val="120000"/>
              </a:lnSpc>
            </a:pP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5142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45B5B1-E0D9-48D9-A8B5-77F96D442EE8}"/>
              </a:ext>
            </a:extLst>
          </p:cNvPr>
          <p:cNvSpPr txBox="1"/>
          <p:nvPr/>
        </p:nvSpPr>
        <p:spPr>
          <a:xfrm>
            <a:off x="487205" y="1576128"/>
            <a:ext cx="10394374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表达式是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C++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引入的一种匿名函数。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存储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表达式的变量被编译为临时类的对象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该临时类变量的对象被构造时，此时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表达式被计算。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若未定义存储该临时类对象的变量，则称该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表达式没被计算。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表达式的声明格式为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[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](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形参列表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mutable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异常说明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-&gt;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返回类型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函数体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 f = [ ](int x=1)-&gt;int { return x; };</a:t>
            </a:r>
          </a:p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捕获列表的参数用于捕获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表达式的外部变量。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28600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临时类重载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operator( ) (…)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；当调用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f(3)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时，等价于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f.operator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 )(3)</a:t>
            </a:r>
          </a:p>
          <a:p>
            <a:pPr marL="685800" lvl="1" indent="-22860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表达式被编译成函数对象，函数对象名为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474834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CD00D9C-2431-454A-B9FF-4535997D6782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0846" y="737536"/>
            <a:ext cx="8569325" cy="2016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为多目运算符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	int sum(int x, int y) { return x + y;}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		int s =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sum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); //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三个操作数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sum, 1, 2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		//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第一个操作数为函数名，这里把函数名看做函数对象</a:t>
            </a:r>
          </a:p>
          <a:p>
            <a:pPr marL="0" indent="0"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 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只能通过类的普通成员函数重载，这意味着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 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第一个操作数必须是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指针指向的类对象，这样的对象称为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函数对象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eaLnBrk="1" hangingPunct="1">
              <a:buFontTx/>
              <a:buNone/>
            </a:pPr>
            <a:endParaRPr lang="en-US" altLang="zh-CN" sz="24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37469BA-7536-416B-877B-4C695BBD0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7508" y="-28845"/>
            <a:ext cx="7772400" cy="838200"/>
          </a:xfrm>
        </p:spPr>
        <p:txBody>
          <a:bodyPr/>
          <a:lstStyle/>
          <a:p>
            <a:pPr algn="l"/>
            <a:r>
              <a:rPr lang="zh-CN" altLang="en-US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重载函数调用操作符（）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29EE43C-1F23-4010-B9E5-80437433D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996952"/>
            <a:ext cx="10515600" cy="3861048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class 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AbsInt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public: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语法：</a:t>
            </a:r>
            <a:r>
              <a:rPr lang="en-US" altLang="zh-CN" sz="2000" b="1" dirty="0" err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returnType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operator( ) (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参数列表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//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调用：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objectofAbsInt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实参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，类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AbsInt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的对象称为函数对象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operator()( int 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val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{ return 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val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&gt; 0? 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val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:-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val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; }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} 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absInt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i = 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absInt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(-1); //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函数对象可以作为函数的参数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这意味着我们可以将函数当做对象传递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在模板编程里广泛使用。在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C+11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里，还可以用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lamda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10BC528-631E-4CF8-8E02-6858676B9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7508" y="6095038"/>
            <a:ext cx="8856984" cy="646331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函数指针也可以作为函数的参数，但函数指针主要的缺点是：</a:t>
            </a:r>
          </a:p>
          <a:p>
            <a:pPr algn="l"/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被函数指针指向的函数是无法内联的。而函数对象则没这个问题。</a:t>
            </a:r>
          </a:p>
        </p:txBody>
      </p:sp>
    </p:spTree>
    <p:extLst>
      <p:ext uri="{BB962C8B-B14F-4D97-AF65-F5344CB8AC3E}">
        <p14:creationId xmlns:p14="http://schemas.microsoft.com/office/powerpoint/2010/main" val="410956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EB36454-A690-459A-9D9B-A26287EC0C12}"/>
              </a:ext>
            </a:extLst>
          </p:cNvPr>
          <p:cNvSpPr txBox="1"/>
          <p:nvPr/>
        </p:nvSpPr>
        <p:spPr>
          <a:xfrm>
            <a:off x="412870" y="809279"/>
            <a:ext cx="1117299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main() {</a:t>
            </a:r>
          </a:p>
          <a:p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fr-FR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fr-FR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1, </a:t>
            </a:r>
            <a:r>
              <a:rPr lang="fr-FR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3;</a:t>
            </a:r>
          </a:p>
          <a:p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fr-FR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fr-FR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fr-FR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2, </a:t>
            </a:r>
            <a:r>
              <a:rPr lang="fr-FR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4;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auto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g = [m, n, &amp;p, &amp;q](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 x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-&gt;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{ p++; 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/*</a:t>
            </a:r>
            <a:r>
              <a:rPr lang="zh-CN" altLang="en-US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错：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m++; n++; q++;*/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 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 err="1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m+n+x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 };</a:t>
            </a:r>
          </a:p>
          <a:p>
            <a:r>
              <a:rPr lang="pl-PL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pl-PL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pl-PL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z = g(0);   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=1,</a:t>
            </a:r>
            <a:r>
              <a:rPr lang="pl-PL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=4,z=3, </a:t>
            </a:r>
            <a:r>
              <a:rPr lang="zh-CN" altLang="pl-PL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等价于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g.operator()(0)</a:t>
            </a:r>
            <a:endParaRPr lang="pl-PL" altLang="zh-CN" sz="20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pl-PL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z = g(0);   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=1,</a:t>
            </a:r>
            <a:r>
              <a:rPr lang="pl-PL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=5,z=3</a:t>
            </a:r>
            <a:endParaRPr lang="pl-PL" altLang="zh-CN" sz="20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//auto g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表达式这条语句，被编译为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匿名类对象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生成的匿名类及其函数如下</a:t>
            </a:r>
            <a:endParaRPr lang="en-US" altLang="zh-CN" sz="20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class 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匿名类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 int  m, n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	//Lambda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mutable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非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捕获的可写外部变量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成员</a:t>
            </a:r>
            <a:endParaRPr lang="en-US" altLang="zh-CN" sz="2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 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		//&amp;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捕获的外部变量保持其原有类型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int+&amp; 	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 int 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		//&amp;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捕获的外部变量保持其原有类型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 int+&amp;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public:  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构造函数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(int m, const int n, int &amp;p, 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 int 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&amp;q) : m(m), n(n), p(p), q(q){ }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int operator()(int x) { </a:t>
            </a:r>
            <a:r>
              <a:rPr lang="pt-BR" altLang="zh-CN" sz="20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p++; return m + n + x</a:t>
            </a:r>
            <a:r>
              <a:rPr lang="pt-B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 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}g(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m, n, p, q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);  	//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调用构造函数初始化匿名类对象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  </a:t>
            </a:r>
            <a:endParaRPr lang="zh-CN" altLang="en-US" sz="20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1036A831-B41B-435C-8EF2-5A7987DDB9C2}"/>
              </a:ext>
            </a:extLst>
          </p:cNvPr>
          <p:cNvSpPr/>
          <p:nvPr/>
        </p:nvSpPr>
        <p:spPr>
          <a:xfrm>
            <a:off x="3671276" y="658153"/>
            <a:ext cx="3816424" cy="576064"/>
          </a:xfrm>
          <a:prstGeom prst="wedgeRoundRectCallout">
            <a:avLst>
              <a:gd name="adj1" fmla="val -56870"/>
              <a:gd name="adj2" fmla="val 136589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m, n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为值捕获</a:t>
            </a:r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;p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为引用捕获</a:t>
            </a:r>
            <a:endParaRPr lang="en-US" altLang="zh-CN" b="1" dirty="0">
              <a:solidFill>
                <a:srgbClr val="00206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0E4F6BAB-A241-4B82-B2FC-332027CC9159}"/>
              </a:ext>
            </a:extLst>
          </p:cNvPr>
          <p:cNvSpPr/>
          <p:nvPr/>
        </p:nvSpPr>
        <p:spPr>
          <a:xfrm>
            <a:off x="7795447" y="2107933"/>
            <a:ext cx="4396553" cy="756654"/>
          </a:xfrm>
          <a:prstGeom prst="wedgeRoundRectCallout">
            <a:avLst>
              <a:gd name="adj1" fmla="val -38990"/>
              <a:gd name="adj2" fmla="val 71527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当捕获列表以值的方式传递后，</a:t>
            </a:r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表达式不能修改这个变量的值，只能使用</a:t>
            </a:r>
            <a:endParaRPr lang="en-US" altLang="zh-CN" b="1" dirty="0">
              <a:solidFill>
                <a:srgbClr val="00206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938807D0-17C6-4E37-BBE0-A6620032125C}"/>
              </a:ext>
            </a:extLst>
          </p:cNvPr>
          <p:cNvSpPr/>
          <p:nvPr/>
        </p:nvSpPr>
        <p:spPr>
          <a:xfrm>
            <a:off x="8745503" y="3887535"/>
            <a:ext cx="3328733" cy="414301"/>
          </a:xfrm>
          <a:prstGeom prst="wedgeRoundRectCallout">
            <a:avLst>
              <a:gd name="adj1" fmla="val -73679"/>
              <a:gd name="adj2" fmla="val -17632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引用捕获的非</a:t>
            </a:r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值可以修改</a:t>
            </a:r>
            <a:endParaRPr lang="en-US" altLang="zh-CN" b="1" dirty="0">
              <a:solidFill>
                <a:srgbClr val="00206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6307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EB36454-A690-459A-9D9B-A26287EC0C12}"/>
              </a:ext>
            </a:extLst>
          </p:cNvPr>
          <p:cNvSpPr txBox="1"/>
          <p:nvPr/>
        </p:nvSpPr>
        <p:spPr>
          <a:xfrm>
            <a:off x="490533" y="710108"/>
            <a:ext cx="1135510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main() {</a:t>
            </a:r>
          </a:p>
          <a:p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fr-FR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fr-FR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1, </a:t>
            </a:r>
            <a:r>
              <a:rPr lang="fr-FR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3;</a:t>
            </a:r>
          </a:p>
          <a:p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fr-FR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 int n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2, </a:t>
            </a:r>
            <a:r>
              <a:rPr lang="fr-FR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fr-FR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4;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auto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f = [m, n, &amp;p, &amp;q](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 x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mutable-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&gt;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{ 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p++; /*</a:t>
            </a:r>
            <a:r>
              <a:rPr lang="zh-CN" altLang="en-US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:n++;q++;*/ return 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m++ 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x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 };</a:t>
            </a:r>
          </a:p>
          <a:p>
            <a:r>
              <a:rPr lang="pl-PL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pl-PL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pl-PL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z = f(0);    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=1,</a:t>
            </a:r>
            <a:r>
              <a:rPr lang="pl-PL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=4,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z=1, </a:t>
            </a:r>
            <a:r>
              <a:rPr lang="zh-CN" altLang="pl-PL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等价于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f.operator()(0);</a:t>
            </a:r>
            <a:endParaRPr lang="pl-PL" altLang="zh-CN" sz="20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pl-PL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z = f(0);         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=1,</a:t>
            </a:r>
            <a:r>
              <a:rPr lang="pl-PL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=5, z=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pl-PL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（匿名类里的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变成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pl-PL" altLang="zh-CN" sz="20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为匿名类对象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生成的匿名类及其函数如下</a:t>
            </a:r>
            <a:endParaRPr lang="en-US" altLang="zh-CN" sz="20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class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匿名类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{</a:t>
            </a:r>
          </a:p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mutable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 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;	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//Lambda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表达式有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mutable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时，非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捕获的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可写外部变量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mutable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成员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 int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;  		//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保持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原有类型为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 int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int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;		//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保持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原有类型为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int+&amp;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const int &amp;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		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保持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原有类型为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 int+&amp;</a:t>
            </a:r>
          </a:p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public:   </a:t>
            </a:r>
          </a:p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构造函数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(int m, const int n, int &amp;p, const </a:t>
            </a:r>
            <a:r>
              <a:rPr lang="en-US" altLang="zh-CN" sz="2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int&amp;q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):m(m), n(n), p(p),q(q){ }  </a:t>
            </a:r>
          </a:p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int operator()(int x) {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p++; /*</a:t>
            </a:r>
            <a:r>
              <a:rPr lang="zh-CN" altLang="en-US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2000" dirty="0">
                <a:solidFill>
                  <a:srgbClr val="008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:n++;q++;*/ return m++ + x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</a:p>
          <a:p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}f(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m, n, p, q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);  		//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调用构造函数初始化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匿名类对象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f  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24A2B0CF-D9F8-4526-BD70-2A6AC143B543}"/>
              </a:ext>
            </a:extLst>
          </p:cNvPr>
          <p:cNvSpPr/>
          <p:nvPr/>
        </p:nvSpPr>
        <p:spPr>
          <a:xfrm>
            <a:off x="4502549" y="710108"/>
            <a:ext cx="3816424" cy="576064"/>
          </a:xfrm>
          <a:prstGeom prst="wedgeRoundRectCallout">
            <a:avLst>
              <a:gd name="adj1" fmla="val -34544"/>
              <a:gd name="adj2" fmla="val 109532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m, n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为值捕获</a:t>
            </a:r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;p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为引用捕获</a:t>
            </a:r>
            <a:endParaRPr lang="en-US" altLang="zh-CN" b="1" dirty="0">
              <a:solidFill>
                <a:srgbClr val="00206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0204783E-E3C9-4A8B-B861-90FEA9AC4631}"/>
              </a:ext>
            </a:extLst>
          </p:cNvPr>
          <p:cNvSpPr/>
          <p:nvPr/>
        </p:nvSpPr>
        <p:spPr>
          <a:xfrm>
            <a:off x="7668312" y="2348407"/>
            <a:ext cx="3816424" cy="883165"/>
          </a:xfrm>
          <a:prstGeom prst="wedgeRoundRectCallout">
            <a:avLst>
              <a:gd name="adj1" fmla="val -42712"/>
              <a:gd name="adj2" fmla="val 91880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表达式有</a:t>
            </a:r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mutable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时，值捕获的非</a:t>
            </a:r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const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值变成</a:t>
            </a:r>
            <a:r>
              <a:rPr lang="en-US" altLang="zh-CN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mutable</a:t>
            </a:r>
            <a:r>
              <a:rPr lang="zh-CN" altLang="en-US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，即可以修改</a:t>
            </a:r>
            <a:endParaRPr lang="en-US" altLang="zh-CN" b="1" dirty="0">
              <a:solidFill>
                <a:srgbClr val="00206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452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Lambda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B3C59-E86A-42CE-AD4E-B4715CB92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255" y="1565853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捕获列表的参数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45B5B1-E0D9-48D9-A8B5-77F96D442EE8}"/>
              </a:ext>
            </a:extLst>
          </p:cNvPr>
          <p:cNvSpPr txBox="1"/>
          <p:nvPr/>
        </p:nvSpPr>
        <p:spPr>
          <a:xfrm>
            <a:off x="78171" y="2153972"/>
            <a:ext cx="10930295" cy="373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表达式的外部变量不能是全局变量或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static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定义的变量。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表达式的外部变量不能是类的成员。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表达式的外部变量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可以是函数参数或函数定义的局部自动变量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出现“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&amp;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变量名”表示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引用捕获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外部变量，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[&amp;]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表示引用捕获所有函数参数或函数定义的局部自动变量。其可写特性同被捕获的外部变量一致。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出现“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变量名”表示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值捕获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外部变量的值（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值参传递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), [=]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表示捕获所有函数参数或函数定义的局部自动变量的值。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参数表后有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mutable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表示在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表达式中可以修改“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值参传递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的可写变量的值”，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但调用后不影响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表达式捕获的对应该可写外部变量的值（值捕获）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77963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7234896-5F09-4040-B2BE-EEE675D5D987}"/>
              </a:ext>
            </a:extLst>
          </p:cNvPr>
          <p:cNvSpPr txBox="1"/>
          <p:nvPr/>
        </p:nvSpPr>
        <p:spPr>
          <a:xfrm>
            <a:off x="72736" y="199797"/>
            <a:ext cx="12046527" cy="617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12.21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main( ) {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a = 0;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auto f = [](int x = 1)-&gt;int { return x; }; 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捕获列表为空，对象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准函数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 g = [](int x)throw(int) -&gt;int { return x; };	//g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同上：匿名函数可能抛出异常，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throw(int)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是异常声明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int(*h)(int) = [](int x)-&gt;int { return x * x; };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捕获列表为空，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可以用函数指针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指向“准函数”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h = f;				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正确：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表达式捕获列表为空，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当准函数使用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 m = [a, 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](int x)-&gt;int { return x * f(x); };	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//m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是函数对象：捕获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初始化函数对象实例成员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//int(*k)(int)=[a](int x)-&gt;int{return x;};	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函数指针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不能指向函数对象（捕获列表非空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函数对象包含其他成员）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//h = m;		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错误：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表达式捕获列表非空，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是函数对象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printf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([ ](int x)-&gt;int{return x;}).name( ));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错：临时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表达式未计算，无类型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printf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("%s\n",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(f).name());			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class &lt;lambda_...&gt;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printf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("%s\n",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(f(3)).name());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，使用实参值调用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x=3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printf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(“%s\n”,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f.operator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 )()).name()); 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，使用默认值调用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x=1,f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是函数对象，显式调用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operator()()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printf("%s\n", 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f.operator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 )).name());	//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 __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cdecl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(int)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printf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("%s\n", 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g.operator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 )).name());	//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 __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cdecl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(int)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printf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("%s\n",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(h).name());	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(__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cdecl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*)(int)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printf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("%s\n",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typeid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(m).name());	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class &lt;lambda_...&gt;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return f(3) + g(3) + (*h)(3);	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用对象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E911F0-965A-49B7-B3C1-4B40B2AB0A62}"/>
              </a:ext>
            </a:extLst>
          </p:cNvPr>
          <p:cNvSpPr/>
          <p:nvPr/>
        </p:nvSpPr>
        <p:spPr>
          <a:xfrm>
            <a:off x="5408583" y="511524"/>
            <a:ext cx="6250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准函数：函数对象不包含其他成员，除了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operator()(...)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249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BE29E-E315-47C6-B12E-3D62DC91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12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章</a:t>
            </a:r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类型解析、转换与推导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B3C59-E86A-42CE-AD4E-B4715CB92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捕获列表的参数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45B5B1-E0D9-48D9-A8B5-77F96D442EE8}"/>
              </a:ext>
            </a:extLst>
          </p:cNvPr>
          <p:cNvSpPr txBox="1"/>
          <p:nvPr/>
        </p:nvSpPr>
        <p:spPr>
          <a:xfrm>
            <a:off x="369116" y="2413744"/>
            <a:ext cx="10930295" cy="3008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捕获列表的参数可以出现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，但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实例函数成员中的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表达式默认捕获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，而静态函数成员中的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表达式不能捕获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由于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不是变量名或参数名，故不能使用“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&amp;this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”或者“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=this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” 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表达式的捕获列表非空，倾向于用作“准对象”，否则倾向于用作“准函数”。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早期编译器实例函数成员中的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表达式默认捕获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，故它是一个准对象。但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vs2019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必须明确捕获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才能访问实例数据成员。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只有作为“准函数”才能获得其函数入口地址。</a:t>
            </a:r>
          </a:p>
        </p:txBody>
      </p:sp>
    </p:spTree>
    <p:extLst>
      <p:ext uri="{BB962C8B-B14F-4D97-AF65-F5344CB8AC3E}">
        <p14:creationId xmlns:p14="http://schemas.microsoft.com/office/powerpoint/2010/main" val="3463148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C1BEA64-5165-4483-87B1-3615C2CDA21C}"/>
              </a:ext>
            </a:extLst>
          </p:cNvPr>
          <p:cNvSpPr txBox="1"/>
          <p:nvPr/>
        </p:nvSpPr>
        <p:spPr>
          <a:xfrm>
            <a:off x="1134341" y="1690688"/>
            <a:ext cx="108792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</a:t>
            </a:r>
            <a:r>
              <a:rPr lang="en-US" altLang="zh-CN" dirty="0">
                <a:solidFill>
                  <a:srgbClr val="92D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= 7;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全局变量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不用被捕获即可被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表达式使用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static int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= 8;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模块变量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不用被捕获即可被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表达式使用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class A {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</a:t>
            </a:r>
            <a:r>
              <a:rPr lang="en-US" altLang="zh-CN" dirty="0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;	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由于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默认被捕获，故可访问实例数据成员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A::x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static int y;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静态数据成员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A::y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不用捕获即可被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表达式使用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public: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A(int m): x(m) { }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void f(int &amp;a) {		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实例函数成员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f()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有隐含参数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int b = 0;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static int </a:t>
            </a:r>
            <a:r>
              <a:rPr lang="en-US" altLang="zh-CN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=0;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静态变量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不用被捕获即可被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表达式使用</a:t>
            </a:r>
          </a:p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 h = [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&amp;, a, b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](int 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)mutable-&gt;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{	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//this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默认被捕获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，创建对象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 b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值捕获，其它引用捕获</a:t>
            </a:r>
            <a:endParaRPr lang="en-US" altLang="zh-CN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a++;  		//f()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的参数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被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值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捕获并传给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的实例成员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a++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不改变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f()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的参数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的值</a:t>
            </a:r>
          </a:p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b++;		//f()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的局部变量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被捕获并传给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实例成员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b++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不改局部变量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的值</a:t>
            </a:r>
          </a:p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c++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;		//f()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的静态变量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可直接使用，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c++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改变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f()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的静态变量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的值</a:t>
            </a:r>
          </a:p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y=</a:t>
            </a:r>
            <a:r>
              <a:rPr lang="en-US" altLang="zh-CN" dirty="0" err="1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n-US" altLang="zh-CN" dirty="0" err="1">
                <a:solidFill>
                  <a:srgbClr val="92D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n-US" altLang="zh-CN" dirty="0" err="1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+</a:t>
            </a:r>
            <a:r>
              <a:rPr lang="en-US" altLang="zh-CN" dirty="0" err="1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;	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//this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默认被捕获：可访问实例数据成员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return a;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};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946CFE5-FAB0-8EBE-1F7F-61AAC325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05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65C0248-0A73-4AD1-BC0E-2D00DEB3FF40}"/>
              </a:ext>
            </a:extLst>
          </p:cNvPr>
          <p:cNvSpPr txBox="1"/>
          <p:nvPr/>
        </p:nvSpPr>
        <p:spPr>
          <a:xfrm>
            <a:off x="278553" y="1783077"/>
            <a:ext cx="117021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h(a + 2);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实参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a+2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值参传递给形参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调用</a:t>
            </a:r>
            <a:r>
              <a:rPr lang="en-US" altLang="zh-CN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h.operator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 )(a+2)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static void g(int &amp;a){	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静态函数成员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g()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没有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int b = 0;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static int c = 0;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静态变量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不用被捕获即可被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表达式使用</a:t>
            </a:r>
          </a:p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auto h = [&amp;a, b](int u)mutable-&gt;int{	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没有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被捕获，创建函数对象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a++; 		//g()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的参数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被捕获并传给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的引用实例成员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a++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改变参数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的值，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是引用捕获</a:t>
            </a:r>
          </a:p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b++;		//g()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的局部变量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被捕获传给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实例成员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b++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不改局部变量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的值，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是值捕获</a:t>
            </a:r>
          </a:p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c++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;		//g()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的静态变量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可直接使用，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c++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改变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g()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的静态变量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的值</a:t>
            </a:r>
          </a:p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y=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m+n+u+c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;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没有捕获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，不可访问实例数据成员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A::x 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return a;	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};</a:t>
            </a:r>
          </a:p>
          <a:p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auto k = [ ](int u) -&gt;int { return u; }; //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静态成员函数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没有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，没有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this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被捕获，创建对象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</a:p>
          <a:p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auto p = k;                                       //p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的类型为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class&lt;lambda…&gt;</a:t>
            </a:r>
          </a:p>
          <a:p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int (*q)(int) = k;	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	    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问题：若将红色部分放入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void f(int &amp;a)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中，如何？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int (*q)(int) = k;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就不成立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763F1DA-9830-1B5A-1BA1-C7933C8FB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312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F4462B4-2260-4C93-A5B5-F81060D57A7C}"/>
              </a:ext>
            </a:extLst>
          </p:cNvPr>
          <p:cNvSpPr txBox="1"/>
          <p:nvPr/>
        </p:nvSpPr>
        <p:spPr>
          <a:xfrm>
            <a:off x="880144" y="2204707"/>
            <a:ext cx="1093431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h(a + 2);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实参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a+2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值参传递给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形参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}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}a(10);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int A::y = 0;		//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静态数据成员必须初始化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void  main( ) {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int p = 2;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a.f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(p);			//p=2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a.x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=10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A::y=30    x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+m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+n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+u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+c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a.f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(p);			//p=2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a.x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=10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A::y=31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A::g(p);		//p=3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a.x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=10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A::y=20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A::g(p);		//p=4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a.x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=10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A::y=22</a:t>
            </a:r>
          </a:p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8E1EFD7-0D8C-4DC0-4D0A-0E304684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65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6779</TotalTime>
  <Words>6128</Words>
  <Application>Microsoft Office PowerPoint</Application>
  <PresentationFormat>宽屏</PresentationFormat>
  <Paragraphs>366</Paragraphs>
  <Slides>23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等线</vt:lpstr>
      <vt:lpstr>等线 Light</vt:lpstr>
      <vt:lpstr>华文新魏</vt:lpstr>
      <vt:lpstr>隶书</vt:lpstr>
      <vt:lpstr>微软雅黑</vt:lpstr>
      <vt:lpstr>Arial</vt:lpstr>
      <vt:lpstr>Wingdings</vt:lpstr>
      <vt:lpstr>Office 主题​​</vt:lpstr>
      <vt:lpstr>PowerPoint 演示文稿</vt:lpstr>
      <vt:lpstr>Lambda表达式</vt:lpstr>
      <vt:lpstr>Lambda表达式</vt:lpstr>
      <vt:lpstr>Lambda表达式</vt:lpstr>
      <vt:lpstr>Lambda表达式</vt:lpstr>
      <vt:lpstr>Lambda表达式</vt:lpstr>
      <vt:lpstr>Lambda表达式</vt:lpstr>
      <vt:lpstr>Lambda表达式</vt:lpstr>
      <vt:lpstr>Lambda表达式</vt:lpstr>
      <vt:lpstr>Lambda表达式</vt:lpstr>
      <vt:lpstr>Lambda表达式</vt:lpstr>
      <vt:lpstr>Lambda表达式</vt:lpstr>
      <vt:lpstr>Lambda表达式</vt:lpstr>
      <vt:lpstr>Lambda表达式</vt:lpstr>
      <vt:lpstr>重载函数调用操作符（）</vt:lpstr>
      <vt:lpstr>PowerPoint 演示文稿</vt:lpstr>
      <vt:lpstr>PowerPoint 演示文稿</vt:lpstr>
      <vt:lpstr>Lambda表达式</vt:lpstr>
      <vt:lpstr>PowerPoint 演示文稿</vt:lpstr>
      <vt:lpstr>第12章  类型解析、转换与推导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guangzhi ma</dc:creator>
  <cp:lastModifiedBy>希武 辜</cp:lastModifiedBy>
  <cp:revision>698</cp:revision>
  <dcterms:created xsi:type="dcterms:W3CDTF">2020-04-22T10:23:54Z</dcterms:created>
  <dcterms:modified xsi:type="dcterms:W3CDTF">2025-11-13T14:15:18Z</dcterms:modified>
</cp:coreProperties>
</file>