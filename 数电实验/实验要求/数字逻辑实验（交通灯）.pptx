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2" r:id="rId1"/>
  </p:sldMasterIdLst>
  <p:notesMasterIdLst>
    <p:notesMasterId r:id="rId15"/>
  </p:notesMasterIdLst>
  <p:handoutMasterIdLst>
    <p:handoutMasterId r:id="rId16"/>
  </p:handoutMasterIdLst>
  <p:sldIdLst>
    <p:sldId id="256" r:id="rId2"/>
    <p:sldId id="533" r:id="rId3"/>
    <p:sldId id="534" r:id="rId4"/>
    <p:sldId id="544" r:id="rId5"/>
    <p:sldId id="545" r:id="rId6"/>
    <p:sldId id="542" r:id="rId7"/>
    <p:sldId id="543" r:id="rId8"/>
    <p:sldId id="546" r:id="rId9"/>
    <p:sldId id="537" r:id="rId10"/>
    <p:sldId id="538" r:id="rId11"/>
    <p:sldId id="539" r:id="rId12"/>
    <p:sldId id="540" r:id="rId13"/>
    <p:sldId id="541" r:id="rId14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1E56"/>
    <a:srgbClr val="336699"/>
    <a:srgbClr val="0066FF"/>
    <a:srgbClr val="3399FF"/>
    <a:srgbClr val="9999FF"/>
    <a:srgbClr val="FCF422"/>
    <a:srgbClr val="65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29" autoAdjust="0"/>
    <p:restoredTop sz="85981" autoAdjust="0"/>
  </p:normalViewPr>
  <p:slideViewPr>
    <p:cSldViewPr snapToObjects="1">
      <p:cViewPr varScale="1">
        <p:scale>
          <a:sx n="85" d="100"/>
          <a:sy n="85" d="100"/>
        </p:scale>
        <p:origin x="1002" y="-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4D2BE61-A36E-4314-9299-C76DB10DF1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22DB155-343B-4AB6-AC95-AFC924DCAD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某个主干道与次干道公路十字交叉路口，为确保人员、车辆安全、迅速地通过，在交叉路口的每个入口处设置了红、绿、黄三色信号灯。红灯禁止通行；绿灯允许通行；黄灯亮提醒行驶中的车辆减速通行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2DB155-343B-4AB6-AC95-AFC924DCAD9D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74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2DB155-343B-4AB6-AC95-AFC924DCAD9D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00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3600" b="1">
                <a:solidFill>
                  <a:schemeClr val="bg1"/>
                </a:solidFill>
                <a:ea typeface="微软雅黑" charset="0"/>
                <a:cs typeface="微软雅黑" charset="0"/>
                <a:sym typeface="Arial" charset="0"/>
              </a:defRPr>
            </a:lvl1pPr>
          </a:lstStyle>
          <a:p>
            <a:pPr lvl="0"/>
            <a:r>
              <a:rPr lang="zh-CN" altLang="en-US" noProof="0">
                <a:sym typeface="Arial" charset="0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4118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auto">
          <a:xfrm flipV="1">
            <a:off x="466725" y="981075"/>
            <a:ext cx="6553200" cy="71438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100000">
                <a:srgbClr val="FFCC6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kumimoji="0" lang="zh-CN" altLang="en-US" sz="1800"/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71488" y="1052513"/>
            <a:ext cx="820420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706090"/>
          </a:xfrm>
        </p:spPr>
        <p:txBody>
          <a:bodyPr/>
          <a:lstStyle>
            <a:lvl1pPr algn="l">
              <a:defRPr sz="360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63622"/>
            <a:ext cx="8208912" cy="5256584"/>
          </a:xfrm>
        </p:spPr>
        <p:txBody>
          <a:bodyPr/>
          <a:lstStyle>
            <a:lvl1pPr marL="342900" indent="-342900">
              <a:buFont typeface="Wingdings" charset="2"/>
              <a:buChar char="p"/>
              <a:defRPr>
                <a:solidFill>
                  <a:schemeClr val="accent6">
                    <a:lumMod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>
              <a:defRPr>
                <a:solidFill>
                  <a:schemeClr val="accent6">
                    <a:lumMod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>
              <a:defRPr>
                <a:solidFill>
                  <a:schemeClr val="accent6">
                    <a:lumMod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>
              <a:defRPr>
                <a:solidFill>
                  <a:schemeClr val="accent6">
                    <a:lumMod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>
              <a:defRPr>
                <a:solidFill>
                  <a:schemeClr val="accent6">
                    <a:lumMod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F8DA7-BA4B-463A-B7C0-25E6F4AA62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43850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3B6FC-69D3-4F30-8D26-6225DA65C42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161495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E584A-A186-480C-83EA-9BA15BF5A3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39157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BD37B-D0A9-4D95-B9A5-EC56B8730B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67920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53F77-AC35-4A90-8699-1B0930BBE15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70460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19625-7D1E-47BF-AD4E-69A67D69D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246833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3A866-0AA8-4780-9ED7-92D9E26716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251133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9630B-A1D1-4B06-A73E-FD0C04B3F3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46501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97A3A-C4FF-4958-BDE3-619076DE86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287695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77FB9-0E04-4C43-8226-8AD70F1249C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1102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648176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656565"/>
                </a:solidFill>
              </a:defRPr>
            </a:lvl1pPr>
          </a:lstStyle>
          <a:p>
            <a:pPr>
              <a:defRPr/>
            </a:pPr>
            <a:fld id="{4255BC85-BF73-4CDE-A8B9-B34A744974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453188"/>
            <a:ext cx="8785225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700088" y="6494463"/>
            <a:ext cx="1912937" cy="3063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/>
              <a:t>数字电路与逻辑设计</a:t>
            </a:r>
          </a:p>
        </p:txBody>
      </p:sp>
      <p:pic>
        <p:nvPicPr>
          <p:cNvPr id="1031" name="Picture 14" descr="hust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6486525"/>
            <a:ext cx="43973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宋体" charset="0"/>
          <a:cs typeface="宋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0"/>
          <a:cs typeface="宋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130425"/>
            <a:ext cx="8208962" cy="1470025"/>
          </a:xfrm>
        </p:spPr>
        <p:txBody>
          <a:bodyPr/>
          <a:lstStyle/>
          <a:p>
            <a:pPr algn="l" eaLnBrk="1" hangingPunct="1"/>
            <a:r>
              <a:rPr kumimoji="0" lang="zh-CN" altLang="en-US" dirty="0">
                <a:ea typeface="微软雅黑" panose="020B0503020204020204" pitchFamily="34" charset="-122"/>
                <a:sym typeface="Arial" panose="020B0604020202020204" pitchFamily="34" charset="0"/>
              </a:rPr>
              <a:t>数字电路与逻辑设计实验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实验内容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实验要求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设计工具</a:t>
            </a:r>
            <a:r>
              <a:rPr lang="en-US" altLang="zh-CN" dirty="0" err="1"/>
              <a:t>logisim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130000"/>
              </a:lnSpc>
              <a:defRPr/>
            </a:pPr>
            <a:endParaRPr lang="zh-CN" altLang="en-US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实验内容：</a:t>
            </a:r>
            <a:r>
              <a:rPr lang="zh-CN" altLang="zh-CN" dirty="0"/>
              <a:t>设计一个</a:t>
            </a:r>
            <a:r>
              <a:rPr lang="zh-CN" altLang="en-US" dirty="0"/>
              <a:t>交通灯控制系统</a:t>
            </a:r>
            <a:endParaRPr lang="en-US" altLang="zh-CN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D52422-E67C-4A2E-B97E-9F38C463E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56" y="1916831"/>
            <a:ext cx="5435724" cy="449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4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zh-CN" dirty="0"/>
              <a:t>输入信号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zh-CN" sz="2400" dirty="0"/>
              <a:t>高峰期信号</a:t>
            </a:r>
            <a:r>
              <a:rPr lang="en-US" altLang="zh-CN" sz="2400" dirty="0"/>
              <a:t>H</a:t>
            </a:r>
          </a:p>
          <a:p>
            <a:pPr lvl="1">
              <a:lnSpc>
                <a:spcPct val="130000"/>
              </a:lnSpc>
            </a:pPr>
            <a:r>
              <a:rPr lang="zh-CN" altLang="zh-CN" sz="2400" dirty="0"/>
              <a:t>主干道通行请求</a:t>
            </a:r>
            <a:r>
              <a:rPr lang="en-US" altLang="zh-CN" sz="2400" dirty="0"/>
              <a:t>MR</a:t>
            </a:r>
          </a:p>
          <a:p>
            <a:pPr lvl="1">
              <a:lnSpc>
                <a:spcPct val="130000"/>
              </a:lnSpc>
            </a:pPr>
            <a:r>
              <a:rPr lang="zh-CN" altLang="zh-CN" sz="2400" dirty="0"/>
              <a:t>次干道通行请求</a:t>
            </a:r>
            <a:r>
              <a:rPr lang="en-US" altLang="zh-CN" sz="2400" dirty="0"/>
              <a:t>SR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紧急状态控制信号</a:t>
            </a:r>
            <a:r>
              <a:rPr lang="zh-CN" altLang="en-US" sz="1600" dirty="0"/>
              <a:t> </a:t>
            </a:r>
            <a:r>
              <a:rPr lang="en-US" altLang="zh-CN" sz="2400" dirty="0"/>
              <a:t>Online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输出信号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sz="2400" dirty="0"/>
              <a:t>2</a:t>
            </a:r>
            <a:r>
              <a:rPr lang="zh-CN" altLang="zh-CN" sz="2400" dirty="0"/>
              <a:t>个</a:t>
            </a:r>
            <a:r>
              <a:rPr lang="en-US" altLang="zh-CN" sz="2400" dirty="0"/>
              <a:t>7</a:t>
            </a:r>
            <a:r>
              <a:rPr lang="zh-CN" altLang="zh-CN" sz="2400" dirty="0"/>
              <a:t>段数码管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en-US" altLang="zh-CN" sz="2400" dirty="0"/>
              <a:t>6</a:t>
            </a:r>
            <a:r>
              <a:rPr lang="zh-CN" altLang="zh-CN" sz="2400" dirty="0"/>
              <a:t>个</a:t>
            </a:r>
            <a:r>
              <a:rPr lang="en-US" altLang="zh-CN" sz="2400" dirty="0"/>
              <a:t>Led</a:t>
            </a:r>
            <a:r>
              <a:rPr lang="zh-CN" altLang="zh-CN" sz="2400" dirty="0"/>
              <a:t>灯</a:t>
            </a:r>
            <a:endParaRPr lang="en-US" altLang="zh-CN" sz="2400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B4B1D0-4958-480B-8809-B050502383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90"/>
          <a:stretch/>
        </p:blipFill>
        <p:spPr>
          <a:xfrm>
            <a:off x="5055439" y="1216025"/>
            <a:ext cx="3485546" cy="26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4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r>
              <a:rPr lang="zh-CN" altLang="en-US" dirty="0"/>
              <a:t>规则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绿黄红灯显示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主干道绿灯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主干道黄灯（闪烁）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次干道绿灯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次干道黄灯（闪烁）</a:t>
            </a:r>
            <a:endParaRPr lang="en-US" altLang="zh-CN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243426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r>
              <a:rPr lang="zh-CN" altLang="en-US" dirty="0"/>
              <a:t>规则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主干道通行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主干道绿灯或黄灯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高峰期，通行时间共</a:t>
            </a:r>
            <a:r>
              <a:rPr lang="en-US" altLang="zh-CN" sz="2000" dirty="0"/>
              <a:t>30s</a:t>
            </a:r>
            <a:r>
              <a:rPr lang="zh-CN" altLang="en-US" sz="2000" dirty="0"/>
              <a:t>，其中，绿灯倒计时</a:t>
            </a:r>
            <a:r>
              <a:rPr lang="en-US" altLang="zh-CN" sz="2000" dirty="0"/>
              <a:t>27s</a:t>
            </a:r>
            <a:r>
              <a:rPr lang="zh-CN" altLang="en-US" sz="2000" dirty="0"/>
              <a:t>，黄灯倒计时</a:t>
            </a:r>
            <a:r>
              <a:rPr lang="en-US" altLang="zh-CN" sz="2000" dirty="0"/>
              <a:t>3s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非高峰期，通行时间共 </a:t>
            </a:r>
            <a:r>
              <a:rPr lang="en-US" altLang="zh-CN" sz="2000" dirty="0"/>
              <a:t>15s</a:t>
            </a:r>
            <a:r>
              <a:rPr lang="zh-CN" altLang="en-US" sz="2000" dirty="0"/>
              <a:t>，其中，绿灯倒计时 </a:t>
            </a:r>
            <a:r>
              <a:rPr lang="en-US" altLang="zh-CN" sz="2000" dirty="0"/>
              <a:t>12 s</a:t>
            </a:r>
            <a:r>
              <a:rPr lang="zh-CN" altLang="en-US" sz="2000" dirty="0"/>
              <a:t>，黄灯倒计时 </a:t>
            </a:r>
            <a:r>
              <a:rPr lang="en-US" altLang="zh-CN" sz="2000" dirty="0"/>
              <a:t>3s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次干道通行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次干道绿灯或黄灯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通行时间共 </a:t>
            </a:r>
            <a:r>
              <a:rPr lang="en-US" altLang="zh-CN" sz="2000" dirty="0"/>
              <a:t>15 s</a:t>
            </a:r>
            <a:r>
              <a:rPr lang="zh-CN" altLang="en-US" sz="2000" dirty="0"/>
              <a:t>，其中，绿灯倒计 时 </a:t>
            </a:r>
            <a:r>
              <a:rPr lang="en-US" altLang="zh-CN" sz="2000" dirty="0"/>
              <a:t>12 s</a:t>
            </a:r>
            <a:r>
              <a:rPr lang="zh-CN" altLang="en-US" sz="2000" dirty="0"/>
              <a:t>，黄灯倒计时 </a:t>
            </a:r>
            <a:r>
              <a:rPr lang="en-US" altLang="zh-CN" sz="2000" dirty="0"/>
              <a:t>3 s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59780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r>
              <a:rPr lang="zh-CN" altLang="en-US" dirty="0"/>
              <a:t>规则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初始状态为主次干道均黄灯闪烁，显示 </a:t>
            </a:r>
            <a:r>
              <a:rPr lang="en-US" altLang="zh-CN" sz="2400" dirty="0"/>
              <a:t>0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紧急状态时，主干道绿灯常亮，显示 </a:t>
            </a:r>
            <a:r>
              <a:rPr lang="en-US" altLang="zh-CN" sz="2400" dirty="0"/>
              <a:t>99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非紧急状态时（</a:t>
            </a:r>
            <a:r>
              <a:rPr lang="en-US" altLang="zh-CN" sz="2400" dirty="0"/>
              <a:t>Online=0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若主干道有通行请求，次干道无通行请求，进入主干道通行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若主干道无通行请求，次干道有通行请求，当前通行干道黄灯倒计时结束后，进入次干道通行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主次干道都有通行请求时，两干道交替通行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若主干道、次干道均无通行请求，则当前通行干道黄灯倒计时结束后，回到初始状态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endParaRPr lang="en-US" altLang="zh-CN" sz="2000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12929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r>
              <a:rPr lang="zh-CN" altLang="en-US" dirty="0"/>
              <a:t>规则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紧急状态（</a:t>
            </a:r>
            <a:r>
              <a:rPr lang="en-US" altLang="zh-CN" sz="2400" dirty="0"/>
              <a:t>Online=1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若次干道为通行状态，需次干道黄灯倒计时结束才能进入紧急状态；若主干道为通行状态，直接进入紧急状态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紧急状态结束，高峰期时，进入高峰期主干道绿灯状态；紧急状态结束，非高峰时，进入非高峰期主干道绿灯状态</a:t>
            </a:r>
            <a:endParaRPr lang="en-US" altLang="zh-CN" sz="2000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912676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具体要求</a:t>
            </a:r>
            <a:endParaRPr lang="en-US" altLang="zh-CN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060848"/>
            <a:ext cx="6840760" cy="353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3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模块划分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dirty="0"/>
              <a:t>显示模块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dirty="0"/>
              <a:t>计数模块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dirty="0"/>
              <a:t>…</a:t>
            </a: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endParaRPr lang="en-US" altLang="zh-CN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615" y="1031992"/>
            <a:ext cx="362581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5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实验过程（头歌平台）  </a:t>
            </a:r>
            <a:r>
              <a:rPr lang="en-US" altLang="zh-CN" dirty="0"/>
              <a:t>40%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/>
              <a:t>实验报告      </a:t>
            </a:r>
            <a:r>
              <a:rPr lang="en-US" altLang="zh-CN" dirty="0"/>
              <a:t>60%</a:t>
            </a:r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03969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/>
              <a:t>第一次实验完成实验报告中的设计方案部分，方案设计完成才能够开始实验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/>
              <a:t>第</a:t>
            </a:r>
            <a:r>
              <a:rPr lang="en-US" altLang="zh-CN" sz="2800" dirty="0"/>
              <a:t>2~4</a:t>
            </a:r>
            <a:r>
              <a:rPr lang="zh-CN" altLang="en-US" sz="2800" dirty="0"/>
              <a:t>次实验完成实验内容，可以使用自己的设计方案，也可以按照头歌平台上的关卡一步步完成（第</a:t>
            </a:r>
            <a:r>
              <a:rPr lang="en-US" altLang="zh-CN" sz="2800" dirty="0"/>
              <a:t>2</a:t>
            </a:r>
            <a:r>
              <a:rPr lang="zh-CN" altLang="en-US" sz="2800" dirty="0"/>
              <a:t>次实验前会开放头歌平台课堂）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/>
              <a:t>实验完成后的一周内完成实验报告，并上交实验报告的纸质版和电子版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/>
              <a:t>实验未完成验收后可以自行安排实验课的时间</a:t>
            </a:r>
            <a:endParaRPr lang="en-US" altLang="zh-CN" sz="2800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42940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622BF-D0CF-4CCE-A2A7-6C6E46EB103E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7526338" cy="1216025"/>
          </a:xfrm>
        </p:spPr>
        <p:txBody>
          <a:bodyPr/>
          <a:lstStyle/>
          <a:p>
            <a:pPr eaLnBrk="1" hangingPunct="1"/>
            <a:r>
              <a:rPr kumimoji="0" lang="zh-CN" altLang="en-US" sz="3800" dirty="0">
                <a:solidFill>
                  <a:srgbClr val="1734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报告要求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07375" cy="5256212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800" dirty="0"/>
              <a:t>设计部分必须写第一次课的设计</a:t>
            </a:r>
            <a:endParaRPr lang="en-US" altLang="zh-CN" sz="2800" dirty="0"/>
          </a:p>
          <a:p>
            <a:pPr>
              <a:lnSpc>
                <a:spcPct val="125000"/>
              </a:lnSpc>
            </a:pPr>
            <a:r>
              <a:rPr lang="zh-CN" altLang="zh-CN" sz="2800" dirty="0"/>
              <a:t>排版符合中文习惯，段落首行空两个字符</a:t>
            </a:r>
          </a:p>
          <a:p>
            <a:pPr>
              <a:lnSpc>
                <a:spcPct val="125000"/>
              </a:lnSpc>
            </a:pPr>
            <a:r>
              <a:rPr lang="zh-CN" altLang="zh-CN" sz="2800" dirty="0"/>
              <a:t>正文使用小四号宋体，英文和数字使用</a:t>
            </a:r>
            <a:r>
              <a:rPr lang="en-US" altLang="zh-CN" sz="2800" dirty="0"/>
              <a:t>Times New Roman</a:t>
            </a:r>
            <a:r>
              <a:rPr lang="zh-CN" altLang="zh-CN" sz="2800" dirty="0"/>
              <a:t>字体，行间距为</a:t>
            </a:r>
            <a:r>
              <a:rPr lang="en-US" altLang="zh-CN" sz="2800" dirty="0"/>
              <a:t>1.25</a:t>
            </a:r>
            <a:r>
              <a:rPr lang="zh-CN" altLang="zh-CN" sz="2800" dirty="0"/>
              <a:t>倍行距</a:t>
            </a:r>
          </a:p>
          <a:p>
            <a:pPr>
              <a:lnSpc>
                <a:spcPct val="125000"/>
              </a:lnSpc>
            </a:pPr>
            <a:r>
              <a:rPr lang="zh-CN" altLang="zh-CN" sz="2800" dirty="0"/>
              <a:t>图要按照图</a:t>
            </a:r>
            <a:r>
              <a:rPr lang="en-US" altLang="zh-CN" sz="2800" dirty="0"/>
              <a:t>1</a:t>
            </a:r>
            <a:r>
              <a:rPr lang="zh-CN" altLang="zh-CN" sz="2800" dirty="0"/>
              <a:t>，图</a:t>
            </a:r>
            <a:r>
              <a:rPr lang="en-US" altLang="zh-CN" sz="2800" dirty="0"/>
              <a:t>2… </a:t>
            </a:r>
            <a:r>
              <a:rPr lang="zh-CN" altLang="zh-CN" sz="2800" dirty="0"/>
              <a:t>顺序编号，要有图的名称，图的编号和名称要放在图的下方</a:t>
            </a:r>
            <a:endParaRPr lang="en-US" altLang="zh-CN" sz="2800" dirty="0"/>
          </a:p>
          <a:p>
            <a:pPr>
              <a:lnSpc>
                <a:spcPct val="125000"/>
              </a:lnSpc>
            </a:pPr>
            <a:r>
              <a:rPr lang="zh-CN" altLang="en-US" sz="2800" dirty="0"/>
              <a:t>表</a:t>
            </a:r>
            <a:r>
              <a:rPr lang="zh-CN" altLang="zh-CN" sz="2800" dirty="0"/>
              <a:t>要按照</a:t>
            </a:r>
            <a:r>
              <a:rPr lang="zh-CN" altLang="en-US" sz="2800" dirty="0"/>
              <a:t>表</a:t>
            </a:r>
            <a:r>
              <a:rPr lang="en-US" altLang="zh-CN" sz="2800" dirty="0"/>
              <a:t>1</a:t>
            </a:r>
            <a:r>
              <a:rPr lang="zh-CN" altLang="zh-CN" sz="2800" dirty="0"/>
              <a:t>，</a:t>
            </a:r>
            <a:r>
              <a:rPr lang="zh-CN" altLang="en-US" sz="2800" dirty="0"/>
              <a:t>表</a:t>
            </a:r>
            <a:r>
              <a:rPr lang="en-US" altLang="zh-CN" sz="2800" dirty="0"/>
              <a:t>2… </a:t>
            </a:r>
            <a:r>
              <a:rPr lang="zh-CN" altLang="zh-CN" sz="2800" dirty="0"/>
              <a:t>顺序编号，要有</a:t>
            </a:r>
            <a:r>
              <a:rPr lang="zh-CN" altLang="en-US" sz="2800" dirty="0"/>
              <a:t>表</a:t>
            </a:r>
            <a:r>
              <a:rPr lang="zh-CN" altLang="zh-CN" sz="2800" dirty="0"/>
              <a:t>的名称，</a:t>
            </a:r>
            <a:r>
              <a:rPr lang="zh-CN" altLang="en-US" sz="2800" dirty="0"/>
              <a:t>表</a:t>
            </a:r>
            <a:r>
              <a:rPr lang="zh-CN" altLang="zh-CN" sz="2800" dirty="0"/>
              <a:t>的编号和名称要放在</a:t>
            </a:r>
            <a:r>
              <a:rPr lang="zh-CN" altLang="en-US" sz="2800" dirty="0"/>
              <a:t>表</a:t>
            </a:r>
            <a:r>
              <a:rPr lang="zh-CN" altLang="zh-CN" sz="2800" dirty="0"/>
              <a:t>的</a:t>
            </a:r>
            <a:r>
              <a:rPr lang="zh-CN" altLang="en-US" sz="2800" dirty="0"/>
              <a:t>上</a:t>
            </a:r>
            <a:r>
              <a:rPr lang="zh-CN" altLang="zh-CN" sz="2800" dirty="0"/>
              <a:t>方</a:t>
            </a:r>
            <a:endParaRPr lang="zh-CN" altLang="zh-CN" dirty="0"/>
          </a:p>
        </p:txBody>
      </p:sp>
      <p:sp>
        <p:nvSpPr>
          <p:cNvPr id="7173" name="页脚占位符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数字电路与逻辑设计</a:t>
            </a:r>
          </a:p>
        </p:txBody>
      </p:sp>
    </p:spTree>
    <p:extLst>
      <p:ext uri="{BB962C8B-B14F-4D97-AF65-F5344CB8AC3E}">
        <p14:creationId xmlns:p14="http://schemas.microsoft.com/office/powerpoint/2010/main" val="31312414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宋体"/>
      </a:majorFont>
      <a:minorFont>
        <a:latin typeface="Arial"/>
        <a:ea typeface="宋体"/>
        <a:cs typeface="宋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0"/>
            <a:cs typeface="宋体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0"/>
            <a:cs typeface="宋体" charset="0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4154</TotalTime>
  <Pages>0</Pages>
  <Words>639</Words>
  <Characters>0</Characters>
  <Application>Microsoft Office PowerPoint</Application>
  <DocSecurity>0</DocSecurity>
  <PresentationFormat>全屏显示(4:3)</PresentationFormat>
  <Lines>0</Lines>
  <Paragraphs>94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Verdana</vt:lpstr>
      <vt:lpstr>Wingdings</vt:lpstr>
      <vt:lpstr>自定义设计方案</vt:lpstr>
      <vt:lpstr>数字电路与逻辑设计实验</vt:lpstr>
      <vt:lpstr>主要内容</vt:lpstr>
      <vt:lpstr>实验内容</vt:lpstr>
      <vt:lpstr>实验内容</vt:lpstr>
      <vt:lpstr>实验内容</vt:lpstr>
      <vt:lpstr>实验内容</vt:lpstr>
      <vt:lpstr>实验内容</vt:lpstr>
      <vt:lpstr>实验内容</vt:lpstr>
      <vt:lpstr>实验内容</vt:lpstr>
      <vt:lpstr>实验内容</vt:lpstr>
      <vt:lpstr>实验要求</vt:lpstr>
      <vt:lpstr>实验要求</vt:lpstr>
      <vt:lpstr>报告要求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　中规模通用集成电路及应用</dc:title>
  <dc:subject/>
  <dc:creator>Administrator</dc:creator>
  <cp:keywords/>
  <dc:description/>
  <cp:lastModifiedBy>云峰 何</cp:lastModifiedBy>
  <cp:revision>187</cp:revision>
  <dcterms:created xsi:type="dcterms:W3CDTF">2013-04-10T01:54:56Z</dcterms:created>
  <dcterms:modified xsi:type="dcterms:W3CDTF">2025-11-11T04:45:44Z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2052-8.1.0.3483</vt:lpwstr>
  </property>
</Properties>
</file>